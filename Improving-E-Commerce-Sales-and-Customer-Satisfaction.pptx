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3.png"/><Relationship Id="rId6" Type="http://schemas.openxmlformats.org/officeDocument/2006/relationships/image" Target="../media/image-2-4.sv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5.png"/><Relationship Id="rId8" Type="http://schemas.openxmlformats.org/officeDocument/2006/relationships/image" Target="../media/image-3-6.sv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7.png"/><Relationship Id="rId10" Type="http://schemas.openxmlformats.org/officeDocument/2006/relationships/image" Target="../media/image-6-8.svg"/><Relationship Id="rId11" Type="http://schemas.openxmlformats.org/officeDocument/2006/relationships/image" Target="../media/image-6-7.png"/><Relationship Id="rId12" Type="http://schemas.openxmlformats.org/officeDocument/2006/relationships/image" Target="../media/image-6-8.svg"/><Relationship Id="rId13" Type="http://schemas.openxmlformats.org/officeDocument/2006/relationships/image" Target="../media/image-6-7.png"/><Relationship Id="rId14" Type="http://schemas.openxmlformats.org/officeDocument/2006/relationships/image" Target="../media/image-6-8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4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Improving E-Commerce Sales &amp; Customer Satisfaction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6089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Brazilian E-Commerce Analysis: Identifying Growth Opportunities &amp; Operational Improvements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94198"/>
            <a:ext cx="53309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99,441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661475" y="2746673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Orders Analyzed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104356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2016–2018 Olist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99132" y="1994198"/>
            <a:ext cx="53310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4250" dirty="0"/>
          </a:p>
        </p:txBody>
      </p:sp>
      <p:sp>
        <p:nvSpPr>
          <p:cNvPr id="8" name="Text 6"/>
          <p:cNvSpPr/>
          <p:nvPr/>
        </p:nvSpPr>
        <p:spPr>
          <a:xfrm>
            <a:off x="6199132" y="2746673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9132" y="3104356"/>
            <a:ext cx="53310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Related CSV datasets joined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3782318"/>
            <a:ext cx="53309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</a:t>
            </a:r>
            <a:endParaRPr lang="en-US" sz="4250" dirty="0"/>
          </a:p>
        </p:txBody>
      </p:sp>
      <p:sp>
        <p:nvSpPr>
          <p:cNvPr id="11" name="Text 9"/>
          <p:cNvSpPr/>
          <p:nvPr/>
        </p:nvSpPr>
        <p:spPr>
          <a:xfrm>
            <a:off x="661475" y="4534793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Columns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475" y="4892477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cleaning &amp; feature 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9132" y="3782318"/>
            <a:ext cx="53310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4250" dirty="0"/>
          </a:p>
        </p:txBody>
      </p:sp>
      <p:sp>
        <p:nvSpPr>
          <p:cNvPr id="14" name="Text 12"/>
          <p:cNvSpPr/>
          <p:nvPr/>
        </p:nvSpPr>
        <p:spPr>
          <a:xfrm>
            <a:off x="6199132" y="4534793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Focus Areas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9132" y="4892477"/>
            <a:ext cx="53310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Categories, Delivery, Geography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9516" y="5529163"/>
            <a:ext cx="1062070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analysis surfaces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five key business findings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99,441 Brazilian e-commerce orders to guide strategic decisions in logistics, merchandising, and regional growth.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5343128"/>
            <a:ext cx="19050" cy="901303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0835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&amp; Methodology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1068" y="1103511"/>
            <a:ext cx="4344085" cy="5263654"/>
          </a:xfrm>
          <a:prstGeom prst="roundRect">
            <a:avLst>
              <a:gd name="adj" fmla="val 231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0566" y="1221184"/>
            <a:ext cx="406508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517" y="1552575"/>
            <a:ext cx="4084138" cy="5796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8163" y="1571625"/>
            <a:ext cx="388749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78163" y="1907282"/>
            <a:ext cx="388749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Brazilian E-Commerce Public Dataset by Olist (Kaggle)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517" y="2329557"/>
            <a:ext cx="4084138" cy="7855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8163" y="2348607"/>
            <a:ext cx="388749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Scope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78163" y="2684264"/>
            <a:ext cx="388749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99,441 orders · 9 CSV datasets · 2016–2018 · 26 engineered columns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517" y="3312418"/>
            <a:ext cx="4084138" cy="7855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8163" y="3331468"/>
            <a:ext cx="388749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Coverage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78163" y="3667125"/>
            <a:ext cx="388749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order, customer, product, and delivery information per record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151408" y="1221184"/>
            <a:ext cx="638506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Analysis Workflow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408" y="1571625"/>
            <a:ext cx="6385063" cy="23960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310482" y="3386000"/>
            <a:ext cx="963061" cy="185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EDA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9096762" y="3386000"/>
            <a:ext cx="963061" cy="185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7889639" y="3386000"/>
            <a:ext cx="963060" cy="185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Joining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682515" y="3386000"/>
            <a:ext cx="963061" cy="185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Cleaning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49007" y="3386000"/>
            <a:ext cx="963060" cy="185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Raw Data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151408" y="4100116"/>
            <a:ext cx="638506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 &amp; Technologies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151408" y="4450556"/>
            <a:ext cx="3133647" cy="833239"/>
          </a:xfrm>
          <a:prstGeom prst="roundRect">
            <a:avLst>
              <a:gd name="adj" fmla="val 70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297256" y="4596408"/>
            <a:ext cx="284195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297256" y="4932065"/>
            <a:ext cx="284195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 &amp; NumPy for data processing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402725" y="4450556"/>
            <a:ext cx="3133746" cy="833239"/>
          </a:xfrm>
          <a:prstGeom prst="roundRect">
            <a:avLst>
              <a:gd name="adj" fmla="val 70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548573" y="4596408"/>
            <a:ext cx="28420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Google Colab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548573" y="4932065"/>
            <a:ext cx="284205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analysis environment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151408" y="5401469"/>
            <a:ext cx="3133647" cy="833239"/>
          </a:xfrm>
          <a:prstGeom prst="roundRect">
            <a:avLst>
              <a:gd name="adj" fmla="val 70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297256" y="5547320"/>
            <a:ext cx="284195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Google Sheets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5297256" y="5882977"/>
            <a:ext cx="284195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validation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8402725" y="5401469"/>
            <a:ext cx="3133746" cy="833239"/>
          </a:xfrm>
          <a:prstGeom prst="roundRect">
            <a:avLst>
              <a:gd name="adj" fmla="val 70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548573" y="5547320"/>
            <a:ext cx="28420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Looker Studio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8548573" y="5882977"/>
            <a:ext cx="284205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573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Business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29320"/>
            <a:ext cx="581893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Category Concentration &amp; Geographic Distribution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97720"/>
            <a:ext cx="2846118" cy="17654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380" y="1761430"/>
            <a:ext cx="24425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Category Concentration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1380" y="2114054"/>
            <a:ext cx="2442506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5 product categories contribute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39.74%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total product sales value — a meaningful concentration risk and opportunity signal.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4193" y="1597720"/>
            <a:ext cx="2846217" cy="17654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74098" y="1761430"/>
            <a:ext cx="244260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Geographic Concentration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874098" y="2114054"/>
            <a:ext cx="2442605" cy="108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São Paulo alone accounts for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41,746 orders (42%)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top 3 states — São Paulo, Rio de Janeiro, and Minas Gerais — represent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66.5%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all orders.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89821"/>
            <a:ext cx="2846118" cy="15484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380" y="3653532"/>
            <a:ext cx="24425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Late Delivery Rate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01380" y="4006155"/>
            <a:ext cx="2442506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8.11%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delivered orders were late — but this minority is strongly associated with a 40% drop in customer satisfaction scores.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4193" y="3489821"/>
            <a:ext cx="2846217" cy="15484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74098" y="3653532"/>
            <a:ext cx="244260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Sales Growth Trend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3874098" y="4006155"/>
            <a:ext cx="2442605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increased substantially during 2017 and remained strong through most of 2018, confirming a growing and active market.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839771" y="1229320"/>
            <a:ext cx="469670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Delivery Performance vs. Customer Satisfaction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9771" y="1597720"/>
            <a:ext cx="4696700" cy="356364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839771" y="5303738"/>
            <a:ext cx="4696700" cy="951309"/>
          </a:xfrm>
          <a:prstGeom prst="roundRect">
            <a:avLst>
              <a:gd name="adj" fmla="val 6389"/>
            </a:avLst>
          </a:prstGeom>
          <a:solidFill>
            <a:srgbClr val="E1E1EA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4428" y="5492254"/>
            <a:ext cx="180871" cy="14466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309957" y="5453757"/>
            <a:ext cx="4081856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1.72-point gap in review scores —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40% lower satisfaction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late orders. Delivery reliability is a critical customer experience driver.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8234"/>
            <a:ext cx="10868745" cy="298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Dive: Delivery Performance &amp; Customer Satisfaction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887512"/>
            <a:ext cx="10868745" cy="814884"/>
          </a:xfrm>
          <a:prstGeom prst="roundRect">
            <a:avLst>
              <a:gd name="adj" fmla="val 492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893862"/>
            <a:ext cx="5428023" cy="802184"/>
          </a:xfrm>
          <a:custGeom>
            <a:avLst/>
            <a:gdLst/>
            <a:ahLst/>
            <a:cxnLst/>
            <a:rect l="l" t="t" r="r" b="b"/>
            <a:pathLst>
              <a:path w="5428023" h="802184">
                <a:moveTo>
                  <a:pt x="33466" y="0"/>
                </a:moveTo>
                <a:lnTo>
                  <a:pt x="5428023" y="0"/>
                </a:lnTo>
                <a:lnTo>
                  <a:pt x="5428023" y="802184"/>
                </a:lnTo>
                <a:lnTo>
                  <a:pt x="33466" y="802184"/>
                </a:lnTo>
                <a:arcTo hR="33467" wR="33466" stAng="5400000" swAng="5400000"/>
                <a:lnTo>
                  <a:pt x="0" y="33467"/>
                </a:lnTo>
                <a:arcTo hR="33467" wR="3346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763370" y="989409"/>
            <a:ext cx="523693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On-Time Deliveries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3370" y="1171972"/>
            <a:ext cx="5236932" cy="428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Avg Review Score:</a:t>
            </a:r>
            <a:pPr algn="l" indent="0" marL="0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4.29 / 5.0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Avg Delivery Time:</a:t>
            </a:r>
            <a:pPr algn="l" indent="0" marL="0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10.88 days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 Sentiment:</a:t>
            </a:r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Highly satisfied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095848" y="893862"/>
            <a:ext cx="5428023" cy="802184"/>
          </a:xfrm>
          <a:custGeom>
            <a:avLst/>
            <a:gdLst/>
            <a:ahLst/>
            <a:cxnLst/>
            <a:rect l="l" t="t" r="r" b="b"/>
            <a:pathLst>
              <a:path w="5428023" h="802184">
                <a:moveTo>
                  <a:pt x="0" y="0"/>
                </a:moveTo>
                <a:lnTo>
                  <a:pt x="5394557" y="0"/>
                </a:lnTo>
                <a:arcTo hR="33467" wR="33466" stAng="16200000" swAng="5400000"/>
                <a:lnTo>
                  <a:pt x="5428023" y="768717"/>
                </a:lnTo>
                <a:arcTo hR="33467" wR="33466" stAng="0" swAng="5400000"/>
                <a:lnTo>
                  <a:pt x="0" y="802184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893862"/>
            <a:ext cx="12700" cy="802184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6191393" y="989409"/>
            <a:ext cx="523693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Late Deliveries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91393" y="1171972"/>
            <a:ext cx="5236932" cy="428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Avg Review Score:</a:t>
            </a:r>
            <a:pPr algn="l" indent="0" marL="0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2.57 / 5.0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Avg Delivery Time:</a:t>
            </a:r>
            <a:pPr algn="l" indent="0" marL="0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31.52 days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 Sentiment:</a:t>
            </a:r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Significantly dissatisfied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1475" y="1819771"/>
            <a:ext cx="5317794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Score Distribution by Delivery Status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31305"/>
            <a:ext cx="5317794" cy="38278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18776" y="1819771"/>
            <a:ext cx="5317794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Delivery Time Comparison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89519" y="2652613"/>
            <a:ext cx="1176010" cy="239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10.88</a:t>
            </a:r>
            <a:endParaRPr lang="en-US" sz="1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538" y="2055118"/>
            <a:ext cx="1434171" cy="143420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18776" y="3568402"/>
            <a:ext cx="5317794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Days (On-Time)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218776" y="3773091"/>
            <a:ext cx="5317794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delivery duration for orders delivered as expected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8289519" y="4625677"/>
            <a:ext cx="1176010" cy="239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31.52</a:t>
            </a:r>
            <a:endParaRPr lang="en-US" sz="18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538" y="4028182"/>
            <a:ext cx="1434171" cy="143420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8776" y="5541466"/>
            <a:ext cx="5317794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Days (Late)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218776" y="5746155"/>
            <a:ext cx="5317794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delivery duration for orders that arrived after the estimated date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6218776" y="5929015"/>
            <a:ext cx="5317794" cy="388541"/>
          </a:xfrm>
          <a:prstGeom prst="roundRect">
            <a:avLst>
              <a:gd name="adj" fmla="val 10336"/>
            </a:avLst>
          </a:prstGeom>
          <a:solidFill>
            <a:srgbClr val="E1E1E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322" y="6013351"/>
            <a:ext cx="119456" cy="955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29323" y="6002536"/>
            <a:ext cx="4911701" cy="24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Note: This analysis demonstrates a strong </a:t>
            </a:r>
            <a:pPr algn="l" indent="0" marL="0">
              <a:lnSpc>
                <a:spcPct val="105000"/>
              </a:lnSpc>
              <a:buNone/>
            </a:pPr>
            <a:r>
              <a:rPr lang="en-US" sz="750" b="1" i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association</a:t>
            </a:r>
            <a:pPr algn="l" indent="0" marL="0">
              <a:lnSpc>
                <a:spcPct val="105000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between delivery performance and customer ratings — not causation. Other factors may also influence review scores.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607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High-Priority Recommendations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63502"/>
            <a:ext cx="3512653" cy="43784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3781" y="177234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Shape 2"/>
          <p:cNvSpPr/>
          <p:nvPr/>
        </p:nvSpPr>
        <p:spPr>
          <a:xfrm>
            <a:off x="845819" y="2343944"/>
            <a:ext cx="1112909" cy="251420"/>
          </a:xfrm>
          <a:prstGeom prst="roundRect">
            <a:avLst>
              <a:gd name="adj" fmla="val 22103"/>
            </a:avLst>
          </a:pr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945035" y="2393553"/>
            <a:ext cx="91447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5819" y="2661444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 Late Deliveries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5819" y="3019127"/>
            <a:ext cx="3143965" cy="231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Action: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Identify and address problematic sellers, regions, and product categories with disproportionately high late-delivery rates. Implement seller performance standards and logistics monitoring.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Owner: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Logistics &amp; Operations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Success KPIs: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Late-delivery percentage · Average review score across all orders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1663502"/>
            <a:ext cx="3512752" cy="43784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1728" y="177234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4523766" y="2343944"/>
            <a:ext cx="1112909" cy="251420"/>
          </a:xfrm>
          <a:prstGeom prst="roundRect">
            <a:avLst>
              <a:gd name="adj" fmla="val 22103"/>
            </a:avLst>
          </a:prstGeom>
          <a:solidFill>
            <a:srgbClr val="E1E1EA"/>
          </a:solidFill>
          <a:ln/>
        </p:spPr>
      </p:sp>
      <p:sp>
        <p:nvSpPr>
          <p:cNvPr id="12" name="Text 8"/>
          <p:cNvSpPr/>
          <p:nvPr/>
        </p:nvSpPr>
        <p:spPr>
          <a:xfrm>
            <a:off x="4622982" y="2393553"/>
            <a:ext cx="91447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23766" y="2661444"/>
            <a:ext cx="31440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Prioritize High-Performing Categories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23766" y="3277592"/>
            <a:ext cx="3144064" cy="257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Action: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Focus inventory allocation, marketing spend, and seller recruitment on strong-performing categories — particularly Health &amp; Beauty and Watches &amp; Gifts, which anchor the top 5 contributing 39.74% of sales value.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Owner: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Merchandising / Marketing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Success KPIs: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Product sales value · Category contribution percentage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1663502"/>
            <a:ext cx="3512653" cy="43784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49774" y="177234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Shape 12"/>
          <p:cNvSpPr/>
          <p:nvPr/>
        </p:nvSpPr>
        <p:spPr>
          <a:xfrm>
            <a:off x="8201812" y="2343944"/>
            <a:ext cx="1312730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301028" y="2393553"/>
            <a:ext cx="111429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201812" y="2661444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 Key Geographic Markets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01812" y="3277592"/>
            <a:ext cx="3143965" cy="257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Action: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Strengthen logistics infrastructure and tailor regional strategies in São Paulo, Rio de Janeiro, and Minas Gerais — which together represent 66.5% of all orders. Prioritize on-time delivery performance in these high-volume markets.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Owner: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Regional Operations / Marketing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Success KPIs: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Sales volume · Order count · On-time delivery rate by state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1352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Business Impact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07790"/>
            <a:ext cx="335946" cy="335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680170"/>
            <a:ext cx="6390123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Impact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1475" y="1999258"/>
            <a:ext cx="6390123" cy="6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Fewer late deliveries and improved logistics efficiency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reliable and predictable delivery performance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operational friction and customer service costs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78237"/>
            <a:ext cx="335946" cy="3359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3350617"/>
            <a:ext cx="6390123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Impact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61475" y="3669705"/>
            <a:ext cx="6390123" cy="6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average customer review scores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customer satisfaction and retention rates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word-of-mouth and repeat purchase frequency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548684"/>
            <a:ext cx="335946" cy="3359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5021064"/>
            <a:ext cx="6390123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Commercial Impact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61475" y="5340152"/>
            <a:ext cx="6390123" cy="89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inventory allocation to high-performing categories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Stronger sales growth in priority product segments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effective regional marketing and seller strategies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competitive positioning in key markets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7385758" y="1194098"/>
            <a:ext cx="4150812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Success Metrics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5758" y="1526877"/>
            <a:ext cx="4150812" cy="10154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15345" y="1680270"/>
            <a:ext cx="376783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Late-Delivery Rate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615345" y="1999357"/>
            <a:ext cx="3767837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from current baseline of </a:t>
            </a:r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8.11%</a:t>
            </a:r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 targeted seller and logistics interventions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5758" y="2651423"/>
            <a:ext cx="4150812" cy="101540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15345" y="2804815"/>
            <a:ext cx="376783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Review Score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7615345" y="3123902"/>
            <a:ext cx="3767837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overall customer review score across all order types as delivery reliability improves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85758" y="3775968"/>
            <a:ext cx="4150812" cy="101540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15345" y="3929360"/>
            <a:ext cx="376783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Category Sales Share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7615345" y="4248448"/>
            <a:ext cx="3767837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 sales contribution from priority categories above the current </a:t>
            </a:r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39.74%</a:t>
            </a:r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concentration</a:t>
            </a:r>
            <a:endParaRPr lang="en-US" sz="10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85758" y="4900513"/>
            <a:ext cx="4150812" cy="101540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615345" y="5053905"/>
            <a:ext cx="376783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On-Time Delivery by State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7615345" y="5372993"/>
            <a:ext cx="3767837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on-time delivery performance specifically in SP, RJ, and MG — 66.5% of all orders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9184"/>
            <a:ext cx="10868745" cy="3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 &amp; Next Steps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26914"/>
            <a:ext cx="5069455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Analysis Limitations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4862" y="1340445"/>
            <a:ext cx="472606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4862" y="1603871"/>
            <a:ext cx="4726068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covers 2016–2018 and may not reflect current customer behavior or market conditions.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4862" y="2123976"/>
            <a:ext cx="472606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Business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4862" y="2387402"/>
            <a:ext cx="4726068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cost, profit-margin, marketing-spend, or customer-acquisition data was available, limiting ROI analysis.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4862" y="2907506"/>
            <a:ext cx="472606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Completeness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4862" y="3170932"/>
            <a:ext cx="4726068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 orders have missing sales, delivery, or review information that could affect aggregate results.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4862" y="3691037"/>
            <a:ext cx="472606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Extreme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4862" y="3954463"/>
            <a:ext cx="4726068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Extreme delivery durations were retained as they may represent genuine operational edge cases.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4862" y="4474567"/>
            <a:ext cx="472606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Association vs. Causation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4862" y="4737993"/>
            <a:ext cx="4726068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delivery-satisfaction findings reflect statistical association only — causation has not been established.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20840" y="1026914"/>
            <a:ext cx="5515631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Recommended Next Steps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20840" y="1300559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20840" y="1485503"/>
            <a:ext cx="5515631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020840" y="1569045"/>
            <a:ext cx="5515631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Root-Cause Investigation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20840" y="1832471"/>
            <a:ext cx="5515631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Drill down into late deliveries by seller, region, and product category to identify systemic causes and prioritize interventions.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20840" y="2318147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20840" y="2503091"/>
            <a:ext cx="5515631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020840" y="2586633"/>
            <a:ext cx="5515631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Profitability Data Collection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20840" y="2850059"/>
            <a:ext cx="5515631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cost, margin, and customer-acquisition data to enable deeper ROI analysis and resource prioritization.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20840" y="3335734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20840" y="3520678"/>
            <a:ext cx="5515631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5" name="Text 23"/>
          <p:cNvSpPr/>
          <p:nvPr/>
        </p:nvSpPr>
        <p:spPr>
          <a:xfrm>
            <a:off x="6020840" y="3604220"/>
            <a:ext cx="5515631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Current-Period Monitoring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20840" y="3867646"/>
            <a:ext cx="5515631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live customer satisfaction and delivery performance metrics to validate findings against current conditions.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20840" y="4353322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20840" y="4538266"/>
            <a:ext cx="5515631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9" name="Text 27"/>
          <p:cNvSpPr/>
          <p:nvPr/>
        </p:nvSpPr>
        <p:spPr>
          <a:xfrm>
            <a:off x="6020840" y="4621808"/>
            <a:ext cx="5515631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Broader Satisfaction Drivers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20840" y="4885234"/>
            <a:ext cx="5515631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deeper analysis to identify additional factors influencing review scores beyond delivery performance.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20840" y="5370909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20840" y="5555853"/>
            <a:ext cx="5515631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3" name="Text 31"/>
          <p:cNvSpPr/>
          <p:nvPr/>
        </p:nvSpPr>
        <p:spPr>
          <a:xfrm>
            <a:off x="6020840" y="5639395"/>
            <a:ext cx="5515631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Predictive Modelling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20840" y="5902821"/>
            <a:ext cx="5515631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models to forecast delivery delays and customer churn risk, enabling proactive operational responses.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2026-09-11T13:52:47Z</dcterms:created>
  <dcterms:modified xsi:type="dcterms:W3CDTF">2026-09-11T13:52:47Z</dcterms:modified>
</cp:coreProperties>
</file>